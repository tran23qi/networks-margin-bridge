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moved" id="{779acb7d-8c32-07b7-dce1-c386d79a5815}">
          <p14:sldIdLst>
            <p14:sldId id="256"/>
          </p14:sldIdLst>
        </p14:section>
        <p14:section name="Why it moved" id="{7442dc26-210a-8905-17c0-44cc53b9b034}">
          <p14:sldIdLst>
            <p14:sldId id="257"/>
          </p14:sldIdLst>
        </p14:section>
        <p14:section name="What to do" id="{d2e8ec91-f721-358e-43d2-ed6c68940d41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Q2-26</c:v>
                  </c:pt>
                  <c:pt idx="1">
                    <c:v>Mix</c:v>
                  </c:pt>
                  <c:pt idx="2">
                    <c:v>Price</c:v>
                  </c:pt>
                  <c:pt idx="3">
                    <c:v>Cost</c:v>
                  </c:pt>
                  <c:pt idx="4">
                    <c:v>Q3-26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49.698</c:v>
                </c:pt>
                <c:pt idx="2">
                  <c:v>49.189</c:v>
                </c:pt>
                <c:pt idx="3">
                  <c:v>48.446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&quot;−&quot;0.0&quot; pp&quot;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Sheet1!$A$2:$A$6</c:f>
              <c:multiLvlStrCache>
                <c:ptCount val="5"/>
                <c:lvl>
                  <c:pt idx="0">
                    <c:v>Q2-26</c:v>
                  </c:pt>
                  <c:pt idx="1">
                    <c:v>Mix</c:v>
                  </c:pt>
                  <c:pt idx="2">
                    <c:v>Price</c:v>
                  </c:pt>
                  <c:pt idx="3">
                    <c:v>Cost</c:v>
                  </c:pt>
                  <c:pt idx="4">
                    <c:v>Q3-26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1.138</c:v>
                </c:pt>
                <c:pt idx="2">
                  <c:v>0.509</c:v>
                </c:pt>
                <c:pt idx="3">
                  <c:v>0.743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C2340"/>
            </a:solidFill>
            <a:effectLst/>
          </c:spPr>
          <c:invertIfNegative val="0"/>
          <c:dLbls>
            <c:numFmt formatCode="0.0&quot;%&quot;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Sheet1!$A$2:$A$6</c:f>
              <c:multiLvlStrCache>
                <c:ptCount val="5"/>
                <c:lvl>
                  <c:pt idx="0">
                    <c:v>Q2-26</c:v>
                  </c:pt>
                  <c:pt idx="1">
                    <c:v>Mix</c:v>
                  </c:pt>
                  <c:pt idx="2">
                    <c:v>Price</c:v>
                  </c:pt>
                  <c:pt idx="3">
                    <c:v>Cost</c:v>
                  </c:pt>
                  <c:pt idx="4">
                    <c:v>Q3-26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50.836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48.446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6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Ericsson guided Networks gross margin down for Q3, citing rollout volumes and component costs. I built a simulated deal portfolio with the same pattern to practise the question a commercial analyst would get: sales are up, so why is margin down, and what can pricing do about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splits the 2.4 point drop into three parts that add up exactly. Mix is the largest: rollout services grew faster than everything else and earn about 15%. Price comes from deeper hardware discounts in one market area and software discounts in rollout deals. Cost is component inflation that was not passed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actions, from easiest to hardest. Software pricing is the biggest lever because software margin is about 80%. The discount limit is a simple rule that uses data the team already has. Cost pass-through touches terms and conditions, so it needs the commercial experts. The caveat matters most: rollout often brings follow-on revenue, so I would test lifetime margin before cutting rollout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Anna Tran  |  Simulated deal data, illustrative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1  WHAT MOVED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grew 21%, but gross margin fell 2.4 points</a:t>
            </a:r>
            <a:endParaRPr lang="en-US" sz="2200" dirty="0"/>
          </a:p>
        </p:txBody>
      </p:sp>
      <p:sp>
        <p:nvSpPr>
          <p:cNvPr id="4" name="panel-ericsson"/>
          <p:cNvSpPr/>
          <p:nvPr/>
        </p:nvSpPr>
        <p:spPr>
          <a:xfrm>
            <a:off x="457200" y="1325880"/>
            <a:ext cx="3977640" cy="3200400"/>
          </a:xfrm>
          <a:prstGeom prst="roundRect">
            <a:avLst>
              <a:gd name="adj" fmla="val 1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ERICSSON NETWORKS, PUBLIC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SEK 33.0bn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Networks sales in Q2 2026, down 8% year on year</a:t>
            </a:r>
            <a:endParaRPr lang="en-US" sz="1200" dirty="0"/>
          </a:p>
        </p:txBody>
      </p:sp>
      <p:sp>
        <p:nvSpPr>
          <p:cNvPr id="8" name="rule-l1"/>
          <p:cNvSpPr/>
          <p:nvPr/>
        </p:nvSpPr>
        <p:spPr>
          <a:xfrm>
            <a:off x="685800" y="3044952"/>
            <a:ext cx="35204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54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48–50%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50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Q3 Networks margin outlook, down from 50.4% in Q2: more rollout projects and component costs</a:t>
            </a:r>
            <a:endParaRPr lang="en-US" sz="1200" dirty="0"/>
          </a:p>
        </p:txBody>
      </p:sp>
      <p:sp>
        <p:nvSpPr>
          <p:cNvPr id="11" name="panel-sim"/>
          <p:cNvSpPr/>
          <p:nvPr/>
        </p:nvSpPr>
        <p:spPr>
          <a:xfrm>
            <a:off x="4709160" y="1325880"/>
            <a:ext cx="3977640" cy="3200400"/>
          </a:xfrm>
          <a:prstGeom prst="roundRect">
            <a:avLst>
              <a:gd name="adj" fmla="val 1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SIMULATED PORTFOLIO, 123 DEAL LINES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874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+21%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874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Net sales, Q2-26 to Q3-26</a:t>
            </a:r>
            <a:endParaRPr lang="en-US" sz="1200" dirty="0"/>
          </a:p>
        </p:txBody>
      </p:sp>
      <p:sp>
        <p:nvSpPr>
          <p:cNvPr id="15" name="rule-r1"/>
          <p:cNvSpPr/>
          <p:nvPr/>
        </p:nvSpPr>
        <p:spPr>
          <a:xfrm>
            <a:off x="4937760" y="2651760"/>
            <a:ext cx="35204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27249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+15%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249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Gross margin in SEK: profit grew slower than sales</a:t>
            </a:r>
            <a:endParaRPr lang="en-US" sz="1200" dirty="0"/>
          </a:p>
        </p:txBody>
      </p:sp>
      <p:sp>
        <p:nvSpPr>
          <p:cNvPr id="18" name="rule-r2"/>
          <p:cNvSpPr/>
          <p:nvPr/>
        </p:nvSpPr>
        <p:spPr>
          <a:xfrm>
            <a:off x="4937760" y="3502152"/>
            <a:ext cx="35204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57530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−2.4 pp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7530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Gross margin %, from 50.8% to 48.4%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754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Source: Ericsson Q2 2026 report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2  WHY IT MOVED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is half the drop: rollout services earn only 15%</a:t>
            </a:r>
            <a:endParaRPr lang="en-US" sz="2200" dirty="0"/>
          </a:p>
        </p:txBody>
      </p:sp>
      <p:graphicFrame>
        <p:nvGraphicFramePr>
          <p:cNvPr id="4" name="waterfall" descr=""/>
          <p:cNvGraphicFramePr/>
          <p:nvPr/>
        </p:nvGraphicFramePr>
        <p:xfrm>
          <a:off x="365760" y="128016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hy-0"/>
          <p:cNvSpPr/>
          <p:nvPr/>
        </p:nvSpPr>
        <p:spPr>
          <a:xfrm>
            <a:off x="5349240" y="1280160"/>
            <a:ext cx="333756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6" name="why-num-0"/>
          <p:cNvSpPr/>
          <p:nvPr/>
        </p:nvSpPr>
        <p:spPr>
          <a:xfrm>
            <a:off x="5513832" y="143560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513832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4081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Mix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−1.1 pp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556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Rollout services rose from 13% to 15% of sales, at a 15% margin.</a:t>
            </a:r>
            <a:endParaRPr lang="en-US" sz="1100" dirty="0"/>
          </a:p>
        </p:txBody>
      </p:sp>
      <p:sp>
        <p:nvSpPr>
          <p:cNvPr id="10" name="why-1"/>
          <p:cNvSpPr/>
          <p:nvPr/>
        </p:nvSpPr>
        <p:spPr>
          <a:xfrm>
            <a:off x="5349240" y="2395728"/>
            <a:ext cx="333756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1" name="why-num-1"/>
          <p:cNvSpPr/>
          <p:nvPr/>
        </p:nvSpPr>
        <p:spPr>
          <a:xfrm>
            <a:off x="5513832" y="255117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13832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5237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Price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−0.5 pp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8712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Deeper hardware discounts in South East Asia, Oceania &amp; India; software in EMEA.</a:t>
            </a:r>
            <a:endParaRPr lang="en-US" sz="1100" dirty="0"/>
          </a:p>
        </p:txBody>
      </p:sp>
      <p:sp>
        <p:nvSpPr>
          <p:cNvPr id="15" name="why-2"/>
          <p:cNvSpPr/>
          <p:nvPr/>
        </p:nvSpPr>
        <p:spPr>
          <a:xfrm>
            <a:off x="5349240" y="3511296"/>
            <a:ext cx="3337560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6" name="why-num-2"/>
          <p:cNvSpPr/>
          <p:nvPr/>
        </p:nvSpPr>
        <p:spPr>
          <a:xfrm>
            <a:off x="5513832" y="3666744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13832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6393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−0.7 pp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9867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Radio hardware unit cost rose 2.7%, and prices did not follow.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3  RECOMMENDATION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software price while rollout volume grows</a:t>
            </a:r>
            <a:endParaRPr lang="en-US" sz="2200" dirty="0"/>
          </a:p>
        </p:txBody>
      </p:sp>
      <p:sp>
        <p:nvSpPr>
          <p:cNvPr id="4" name="act-0"/>
          <p:cNvSpPr/>
          <p:nvPr/>
        </p:nvSpPr>
        <p:spPr>
          <a:xfrm>
            <a:off x="457200" y="1325880"/>
            <a:ext cx="260604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act-num-0"/>
          <p:cNvSpPr/>
          <p:nvPr/>
        </p:nvSpPr>
        <p:spPr>
          <a:xfrm>
            <a:off x="658368" y="1508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Price software on its own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67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Keep RAN software out of bundle discounts in rollout deals. Moving 1 pp of sales from rollout to software adds about 0.6 pp of margin.</a:t>
            </a:r>
            <a:endParaRPr lang="en-US" sz="1100" dirty="0"/>
          </a:p>
        </p:txBody>
      </p:sp>
      <p:sp>
        <p:nvSpPr>
          <p:cNvPr id="9" name="act-1"/>
          <p:cNvSpPr/>
          <p:nvPr/>
        </p:nvSpPr>
        <p:spPr>
          <a:xfrm>
            <a:off x="3268980" y="1325880"/>
            <a:ext cx="260604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0" name="act-num-1"/>
          <p:cNvSpPr/>
          <p:nvPr/>
        </p:nvSpPr>
        <p:spPr>
          <a:xfrm>
            <a:off x="3470148" y="1508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014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0148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Limit discounts by area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0148" y="2267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Send hardware discounts more than 3 pp above the area's average from last quarter for approval before signing.</a:t>
            </a:r>
            <a:endParaRPr lang="en-US" sz="1100" dirty="0"/>
          </a:p>
        </p:txBody>
      </p:sp>
      <p:sp>
        <p:nvSpPr>
          <p:cNvPr id="14" name="act-2"/>
          <p:cNvSpPr/>
          <p:nvPr/>
        </p:nvSpPr>
        <p:spPr>
          <a:xfrm>
            <a:off x="6080760" y="1325880"/>
            <a:ext cx="260604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5" name="act-num-2"/>
          <p:cNvSpPr/>
          <p:nvPr/>
        </p:nvSpPr>
        <p:spPr>
          <a:xfrm>
            <a:off x="6281928" y="1508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192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Pass on component costs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267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 hardware price levels and price-adjustment terms in multi-year agreements where unit cost has risen.</a:t>
            </a:r>
            <a:endParaRPr lang="en-US" sz="1100" dirty="0"/>
          </a:p>
        </p:txBody>
      </p:sp>
      <p:sp>
        <p:nvSpPr>
          <p:cNvPr id="19" name="check-box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639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Before acting, I would check with real data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684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Rollout deals often open years of software and support revenue, so a low-margin rollout can still be the right deal. The next step is margin over the life of the customer, not just this quarter.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s Margin">
  <a:themeElements>
    <a:clrScheme name="Networks Margin">
      <a:dk1>
        <a:srgbClr val="1A1A1A"/>
      </a:dk1>
      <a:lt1>
        <a:srgbClr val="FFFFFF"/>
      </a:lt1>
      <a:dk2>
        <a:srgbClr val="0C2340"/>
      </a:dk2>
      <a:lt2>
        <a:srgbClr val="F3F5F8"/>
      </a:lt2>
      <a:accent1>
        <a:srgbClr val="1174E6"/>
      </a:accent1>
      <a:accent2>
        <a:srgbClr val="C8102E"/>
      </a:accent2>
      <a:accent3>
        <a:srgbClr val="2E8540"/>
      </a:accent3>
      <a:accent4>
        <a:srgbClr val="D5DBE3"/>
      </a:accent4>
      <a:accent5>
        <a:srgbClr val="F2A900"/>
      </a:accent5>
      <a:accent6>
        <a:srgbClr val="5B6B82"/>
      </a:accent6>
      <a:hlink>
        <a:srgbClr val="1174E6"/>
      </a:hlink>
      <a:folHlink>
        <a:srgbClr val="5B6B82"/>
      </a:folHlink>
    </a:clrScheme>
    <a:fontScheme name="Networks Marg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 gross margin bridge (simulated)</dc:title>
  <dc:subject>PptxGenJS Presentation</dc:subject>
  <dc:creator>Anh Thy (Anna) Tran</dc:creator>
  <cp:lastModifiedBy>Anh Thy (Anna) Tran</cp:lastModifiedBy>
  <cp:revision>1</cp:revision>
  <dcterms:created xsi:type="dcterms:W3CDTF">2026-10-14T20:37:23Z</dcterms:created>
  <dcterms:modified xsi:type="dcterms:W3CDTF">2026-10-14T20:37:23Z</dcterms:modified>
</cp:coreProperties>
</file>